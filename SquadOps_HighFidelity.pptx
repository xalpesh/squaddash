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Intake Volume vs Processed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Intake Vol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14</c:v>
                </c:pt>
                <c:pt idx="3">
                  <c:v>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Processed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13</c:v>
                </c:pt>
                <c:pt idx="3">
                  <c:v>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Squad Staffing Levels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Staffing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Squad A</c:v>
                </c:pt>
                <c:pt idx="1">
                  <c:v>Squad B</c:v>
                </c:pt>
                <c:pt idx="2">
                  <c:v>Squad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85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Flex Capacity Utilization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Current Resource Allocation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Billable</c:v>
                </c:pt>
                <c:pt idx="1">
                  <c:v>Bench</c:v>
                </c:pt>
                <c:pt idx="2">
                  <c:v>Training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0.1</c:v>
                </c:pt>
                <c:pt idx="2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Schedule Performance Index (SPI)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Proj A</c:v>
                </c:pt>
                <c:pt idx="1">
                  <c:v>Proj B</c:v>
                </c:pt>
                <c:pt idx="2">
                  <c:v>Proj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1.1</c:v>
                </c:pt>
                <c:pt idx="2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1: Demand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Early visibility prevents resource bottlenecks before they occur.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Forward Planning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Forecast Accuracy %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Portfolio Lead</a:t>
            </a:r>
          </a:p>
        </p:txBody>
      </p:sp>
      <p:sp>
        <p:nvSpPr>
          <p:cNvPr id="7" name="Chevron 6"/>
          <p:cNvSpPr/>
          <p:nvPr/>
        </p:nvSpPr>
        <p:spPr>
          <a:xfrm>
            <a:off x="4114800" y="2743200"/>
            <a:ext cx="2286000" cy="914400"/>
          </a:xfrm>
          <a:prstGeom prst="chevron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Analyze Pipeline</a:t>
            </a:r>
          </a:p>
        </p:txBody>
      </p:sp>
      <p:sp>
        <p:nvSpPr>
          <p:cNvPr id="8" name="Chevron 7"/>
          <p:cNvSpPr/>
          <p:nvPr/>
        </p:nvSpPr>
        <p:spPr>
          <a:xfrm>
            <a:off x="6492240" y="2743200"/>
            <a:ext cx="2286000" cy="914400"/>
          </a:xfrm>
          <a:prstGeom prst="chevron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Identify Gaps</a:t>
            </a:r>
          </a:p>
        </p:txBody>
      </p:sp>
      <p:sp>
        <p:nvSpPr>
          <p:cNvPr id="9" name="Chevron 8"/>
          <p:cNvSpPr/>
          <p:nvPr/>
        </p:nvSpPr>
        <p:spPr>
          <a:xfrm>
            <a:off x="8869680" y="2743200"/>
            <a:ext cx="2286000" cy="914400"/>
          </a:xfrm>
          <a:prstGeom prst="chevron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Trigger Hiring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Accurate forecasting reduces 'panic hiring' by 40%.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2: Work Intake &amp;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Standardized gatekeeping ensures only high-ROI work enters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Request Filtering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Intake Cycle Time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Demand Manager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0" y="201168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Strict gating improves average project ROI by 15%.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3: Squad 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Dynamic assembly optimizes skill-to-task matching.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Resource Allocation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Time-to-Staff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Squad Lead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0" y="201168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Faster mobilization directly impacts sprint velocity.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4: Flex Hour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Elastic scaling manages demand surges without fixed cost increases.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Burst Capacity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Flex Utilization %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Ops Lead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0" y="201168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Flex model absorbs 20% demand spikes without new hires.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5: Capacity &amp; Utilization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Real-time utilization tracking identifies hidden efficiency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Efficiency Tracking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Billable Util % (85%)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Resource Mgr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01168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Identifying bench time unlocks $200k in potential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6: Project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Centralized standards minimize variance in delivery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Risk &amp; Control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SPI / CPI Index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PMO Lead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0" y="201168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Standardized governance reduces project slippage by 2 weeks.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7: Project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7724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  <a:latin typeface="Arial"/>
              </a:defRPr>
            </a:pPr>
            <a:r>
              <a:t>Excellence driven by strict quality gates and user acceptance.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2560320"/>
          </a:xfrm>
          <a:prstGeom prst="rect">
            <a:avLst/>
          </a:prstGeom>
          <a:solidFill>
            <a:srgbClr val="E7ECF0"/>
          </a:solidFill>
          <a:ln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Focus Area: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Delivery Quality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SLA / Metric: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Defect Density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Role: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Tech Lead</a:t>
            </a:r>
          </a:p>
        </p:txBody>
      </p:sp>
      <p:sp>
        <p:nvSpPr>
          <p:cNvPr id="7" name="Trapezoid 6"/>
          <p:cNvSpPr/>
          <p:nvPr/>
        </p:nvSpPr>
        <p:spPr>
          <a:xfrm>
            <a:off x="5943600" y="2286000"/>
            <a:ext cx="3657600" cy="731520"/>
          </a:xfrm>
          <a:prstGeom prst="trapezoid">
            <a:avLst>
              <a:gd name="adj" fmla="val 25000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Total Defects</a:t>
            </a:r>
          </a:p>
        </p:txBody>
      </p:sp>
      <p:sp>
        <p:nvSpPr>
          <p:cNvPr id="8" name="Trapezoid 7"/>
          <p:cNvSpPr/>
          <p:nvPr/>
        </p:nvSpPr>
        <p:spPr>
          <a:xfrm>
            <a:off x="6309360" y="3108960"/>
            <a:ext cx="2926080" cy="731520"/>
          </a:xfrm>
          <a:prstGeom prst="trapezoid">
            <a:avLst>
              <a:gd name="adj" fmla="val 25000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Fixed</a:t>
            </a:r>
          </a:p>
        </p:txBody>
      </p:sp>
      <p:sp>
        <p:nvSpPr>
          <p:cNvPr id="9" name="Trapezoid 8"/>
          <p:cNvSpPr/>
          <p:nvPr/>
        </p:nvSpPr>
        <p:spPr>
          <a:xfrm>
            <a:off x="6675120" y="3931920"/>
            <a:ext cx="2194560" cy="731520"/>
          </a:xfrm>
          <a:prstGeom prst="trapezoid">
            <a:avLst>
              <a:gd name="adj" fmla="val 25000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UAT Signed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Zero critical defects at Go-Live ensures client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