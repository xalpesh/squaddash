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%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</c:v>
                </c:pt>
                <c:pt idx="1">
                  <c:v>0.75</c:v>
                </c:pt>
                <c:pt idx="2">
                  <c:v>0.88</c:v>
                </c:pt>
                <c:pt idx="3">
                  <c:v>0.82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Intake Vol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Project A</c:v>
                </c:pt>
                <c:pt idx="1">
                  <c:v>Project B</c:v>
                </c:pt>
                <c:pt idx="2">
                  <c:v>Project C</c:v>
                </c:pt>
                <c:pt idx="3">
                  <c:v>Project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10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Flex Capacity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30</c:v>
                </c:pt>
                <c:pt idx="2">
                  <c:v>50</c:v>
                </c:pt>
                <c:pt idx="3">
                  <c:v>40</c:v>
                </c:pt>
                <c:pt idx="4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Billable</c:v>
                </c:pt>
                <c:pt idx="1">
                  <c:v>Bench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9144000" cy="27432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  <a:latin typeface="Arial"/>
              </a:defRPr>
            </a:pPr>
            <a:r>
              <a:t>Pillar 1: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Arial"/>
              </a:defRPr>
            </a:pPr>
            <a:r>
              <a:t>Early visibility prevents resource bottlenecks before they occur.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200400" cy="2286000"/>
          </a:xfrm>
          <a:prstGeom prst="rect">
            <a:avLst/>
          </a:prstGeom>
          <a:solidFill>
            <a:srgbClr val="DCE6F1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SLA / Metric:</a:t>
            </a:r>
          </a:p>
          <a:p>
            <a:pPr>
              <a:spcAft>
                <a:spcPts val="2000"/>
              </a:spcAft>
              <a:defRPr sz="1200"/>
            </a:pPr>
            <a:r>
              <a:t>Forecast Accuracy: +/- 10%</a:t>
            </a:r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Primary Role:</a:t>
            </a:r>
          </a:p>
          <a:p>
            <a:pPr>
              <a:defRPr sz="1200"/>
            </a:pPr>
            <a:r>
              <a:t>Portfolio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16459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3399"/>
                </a:solidFill>
              </a:defRPr>
            </a:pPr>
            <a:r>
              <a:t>Predict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09360" y="2651760"/>
            <a:ext cx="457200" cy="182880"/>
          </a:xfrm>
          <a:prstGeom prst="rightArrow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2286000"/>
            <a:ext cx="16459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3399"/>
                </a:solidFill>
              </a:defRPr>
            </a:pPr>
            <a:r>
              <a:t>Assess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95360" y="2651760"/>
            <a:ext cx="457200" cy="182880"/>
          </a:xfrm>
          <a:prstGeom prst="rightArrow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2286000"/>
            <a:ext cx="16459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3399"/>
                </a:solidFill>
              </a:defRPr>
            </a:pPr>
            <a: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Average Time-to-Approve: 7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9144000" cy="27432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  <a:latin typeface="Arial"/>
              </a:defRPr>
            </a:pPr>
            <a:r>
              <a:t>Pillar 2: Work Intake &amp; Utilization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Arial"/>
              </a:defRPr>
            </a:pPr>
            <a:r>
              <a:t>Standardized gatekeeping ensures only high-ROI work enters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200400" cy="2286000"/>
          </a:xfrm>
          <a:prstGeom prst="rect">
            <a:avLst/>
          </a:prstGeom>
          <a:solidFill>
            <a:srgbClr val="DCE6F1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SLA / Metric:</a:t>
            </a:r>
          </a:p>
          <a:p>
            <a:pPr>
              <a:spcAft>
                <a:spcPts val="2000"/>
              </a:spcAft>
              <a:defRPr sz="1200"/>
            </a:pPr>
            <a:r>
              <a:t>Intake Cycle Time: &lt; 48 Hours</a:t>
            </a:r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Primary Role:</a:t>
            </a:r>
          </a:p>
          <a:p>
            <a:pPr>
              <a:defRPr sz="1200"/>
            </a:pPr>
            <a:r>
              <a:t>Demand Manager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0" y="182880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9144000" cy="27432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  <a:latin typeface="Arial"/>
              </a:defRPr>
            </a:pPr>
            <a:r>
              <a:t>Pillar 3: Squad Formation &amp; Staffing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Arial"/>
              </a:defRPr>
            </a:pPr>
            <a:r>
              <a:t>Dynamic assembly optimizes skill-to-task matching.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200400" cy="2286000"/>
          </a:xfrm>
          <a:prstGeom prst="rect">
            <a:avLst/>
          </a:prstGeom>
          <a:solidFill>
            <a:srgbClr val="DCE6F1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SLA / Metric:</a:t>
            </a:r>
          </a:p>
          <a:p>
            <a:pPr>
              <a:spcAft>
                <a:spcPts val="2000"/>
              </a:spcAft>
              <a:defRPr sz="1200"/>
            </a:pPr>
            <a:r>
              <a:t>Time-to-Fill: &lt; 5 Days</a:t>
            </a:r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Primary Role:</a:t>
            </a:r>
          </a:p>
          <a:p>
            <a:pPr>
              <a:defRPr sz="1200"/>
            </a:pPr>
            <a:r>
              <a:t>Squad Lead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0" y="182880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9144000" cy="27432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  <a:latin typeface="Arial"/>
              </a:defRPr>
            </a:pPr>
            <a:r>
              <a:t>Pillar 4: Flex Hour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Arial"/>
              </a:defRPr>
            </a:pPr>
            <a:r>
              <a:t>Elastic scaling manages demand surges without fixed cost increases.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200400" cy="2286000"/>
          </a:xfrm>
          <a:prstGeom prst="rect">
            <a:avLst/>
          </a:prstGeom>
          <a:solidFill>
            <a:srgbClr val="DCE6F1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SLA / Metric:</a:t>
            </a:r>
          </a:p>
          <a:p>
            <a:pPr>
              <a:spcAft>
                <a:spcPts val="2000"/>
              </a:spcAft>
              <a:defRPr sz="1200"/>
            </a:pPr>
            <a:r>
              <a:t>Flex Utilization: 100% during Peak</a:t>
            </a:r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Primary Role:</a:t>
            </a:r>
          </a:p>
          <a:p>
            <a:pPr>
              <a:defRPr sz="1200"/>
            </a:pPr>
            <a:r>
              <a:t>Operations Lead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0" y="182880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9144000" cy="27432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  <a:latin typeface="Arial"/>
              </a:defRPr>
            </a:pPr>
            <a:r>
              <a:t>Pillar 5: Capacity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Arial"/>
              </a:defRPr>
            </a:pPr>
            <a:r>
              <a:t>Real-time utilization tracking identifies hidden efficiency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200400" cy="2286000"/>
          </a:xfrm>
          <a:prstGeom prst="rect">
            <a:avLst/>
          </a:prstGeom>
          <a:solidFill>
            <a:srgbClr val="DCE6F1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SLA / Metric:</a:t>
            </a:r>
          </a:p>
          <a:p>
            <a:pPr>
              <a:spcAft>
                <a:spcPts val="2000"/>
              </a:spcAft>
              <a:defRPr sz="1200"/>
            </a:pPr>
            <a:r>
              <a:t>Billable Util %: Target: 85%</a:t>
            </a:r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Primary Role:</a:t>
            </a:r>
          </a:p>
          <a:p>
            <a:pPr>
              <a:defRPr sz="1200"/>
            </a:pPr>
            <a:r>
              <a:t>Resource Manager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0" y="182880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9144000" cy="27432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  <a:latin typeface="Arial"/>
              </a:defRPr>
            </a:pPr>
            <a:r>
              <a:t>Pillar 6: Project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Arial"/>
              </a:defRPr>
            </a:pPr>
            <a:r>
              <a:t>Excellence driven by strict quality gates and user acceptance.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Focus Area /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200400" cy="2286000"/>
          </a:xfrm>
          <a:prstGeom prst="rect">
            <a:avLst/>
          </a:prstGeom>
          <a:solidFill>
            <a:srgbClr val="DCE6F1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SLA / Metric:</a:t>
            </a:r>
          </a:p>
          <a:p>
            <a:pPr>
              <a:spcAft>
                <a:spcPts val="2000"/>
              </a:spcAft>
              <a:defRPr sz="1200"/>
            </a:pPr>
            <a:r>
              <a:t>Defect Density: 0 Critical</a:t>
            </a:r>
          </a:p>
          <a:p>
            <a:pPr>
              <a:defRPr b="1" sz="1200">
                <a:solidFill>
                  <a:srgbClr val="003399"/>
                </a:solidFill>
              </a:defRPr>
            </a:pPr>
            <a:r>
              <a:t>Primary Role:</a:t>
            </a:r>
          </a:p>
          <a:p>
            <a:pPr>
              <a:defRPr sz="1200"/>
            </a:pPr>
            <a:r>
              <a:t>Technical Lead</a:t>
            </a:r>
          </a:p>
        </p:txBody>
      </p:sp>
      <p:sp>
        <p:nvSpPr>
          <p:cNvPr id="7" name="Trapezoid 6"/>
          <p:cNvSpPr/>
          <p:nvPr/>
        </p:nvSpPr>
        <p:spPr>
          <a:xfrm>
            <a:off x="6400800" y="1828800"/>
            <a:ext cx="2743200" cy="640080"/>
          </a:xfrm>
          <a:prstGeom prst="trapezoid">
            <a:avLst>
              <a:gd name="adj" fmla="val 20000"/>
            </a:avLst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Total Defects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Filtered</a:t>
            </a:r>
          </a:p>
        </p:txBody>
      </p:sp>
      <p:sp>
        <p:nvSpPr>
          <p:cNvPr id="9" name="Trapezoid 8"/>
          <p:cNvSpPr/>
          <p:nvPr/>
        </p:nvSpPr>
        <p:spPr>
          <a:xfrm>
            <a:off x="6629400" y="2514600"/>
            <a:ext cx="2286000" cy="640080"/>
          </a:xfrm>
          <a:prstGeom prst="trapezoid">
            <a:avLst>
              <a:gd name="adj" fmla="val 20000"/>
            </a:avLst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QA 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06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Filtered</a:t>
            </a:r>
          </a:p>
        </p:txBody>
      </p:sp>
      <p:sp>
        <p:nvSpPr>
          <p:cNvPr id="11" name="Trapezoid 10"/>
          <p:cNvSpPr/>
          <p:nvPr/>
        </p:nvSpPr>
        <p:spPr>
          <a:xfrm>
            <a:off x="6858000" y="3200400"/>
            <a:ext cx="1828800" cy="640080"/>
          </a:xfrm>
          <a:prstGeom prst="trapezoid">
            <a:avLst>
              <a:gd name="adj" fmla="val 20000"/>
            </a:avLst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UAT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291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Filtered</a:t>
            </a:r>
          </a:p>
        </p:txBody>
      </p:sp>
      <p:sp>
        <p:nvSpPr>
          <p:cNvPr id="13" name="Trapezoid 12"/>
          <p:cNvSpPr/>
          <p:nvPr/>
        </p:nvSpPr>
        <p:spPr>
          <a:xfrm>
            <a:off x="7086600" y="3886200"/>
            <a:ext cx="1371600" cy="640080"/>
          </a:xfrm>
          <a:prstGeom prst="trapezoid">
            <a:avLst>
              <a:gd name="adj" fmla="val 20000"/>
            </a:avLst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Go-Live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9776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Filtered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