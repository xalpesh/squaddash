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3399"/>
                </a:solidFill>
              </a:defRPr>
            </a:pPr>
            <a:r>
              <a:t>SquadOps Governance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Synchronizing 140+ Resources for Project Ascend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18288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457200" y="2743200"/>
            <a:ext cx="1097280" cy="548640"/>
          </a:xfrm>
          <a:prstGeom prst="chevron">
            <a:avLst/>
          </a:prstGeom>
          <a:solidFill>
            <a:srgbClr val="0033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Demand</a:t>
            </a:r>
          </a:p>
        </p:txBody>
      </p:sp>
      <p:sp>
        <p:nvSpPr>
          <p:cNvPr id="6" name="Chevron 5"/>
          <p:cNvSpPr/>
          <p:nvPr/>
        </p:nvSpPr>
        <p:spPr>
          <a:xfrm>
            <a:off x="1600200" y="2743200"/>
            <a:ext cx="1097280" cy="548640"/>
          </a:xfrm>
          <a:prstGeom prst="chevron">
            <a:avLst/>
          </a:prstGeom>
          <a:solidFill>
            <a:srgbClr val="0033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Intake</a:t>
            </a:r>
          </a:p>
        </p:txBody>
      </p:sp>
      <p:sp>
        <p:nvSpPr>
          <p:cNvPr id="7" name="Chevron 6"/>
          <p:cNvSpPr/>
          <p:nvPr/>
        </p:nvSpPr>
        <p:spPr>
          <a:xfrm>
            <a:off x="2743200" y="2743200"/>
            <a:ext cx="1097280" cy="548640"/>
          </a:xfrm>
          <a:prstGeom prst="chevron">
            <a:avLst/>
          </a:prstGeom>
          <a:solidFill>
            <a:srgbClr val="0033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Squads</a:t>
            </a:r>
          </a:p>
        </p:txBody>
      </p:sp>
      <p:sp>
        <p:nvSpPr>
          <p:cNvPr id="8" name="Chevron 7"/>
          <p:cNvSpPr/>
          <p:nvPr/>
        </p:nvSpPr>
        <p:spPr>
          <a:xfrm>
            <a:off x="3886200" y="2743200"/>
            <a:ext cx="1097280" cy="548640"/>
          </a:xfrm>
          <a:prstGeom prst="chevron">
            <a:avLst/>
          </a:prstGeom>
          <a:solidFill>
            <a:srgbClr val="0033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Flex</a:t>
            </a:r>
          </a:p>
        </p:txBody>
      </p:sp>
      <p:sp>
        <p:nvSpPr>
          <p:cNvPr id="9" name="Chevron 8"/>
          <p:cNvSpPr/>
          <p:nvPr/>
        </p:nvSpPr>
        <p:spPr>
          <a:xfrm>
            <a:off x="5029200" y="2743200"/>
            <a:ext cx="1097280" cy="548640"/>
          </a:xfrm>
          <a:prstGeom prst="chevron">
            <a:avLst/>
          </a:prstGeom>
          <a:solidFill>
            <a:srgbClr val="0033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Capacity</a:t>
            </a:r>
          </a:p>
        </p:txBody>
      </p:sp>
      <p:sp>
        <p:nvSpPr>
          <p:cNvPr id="10" name="Chevron 9"/>
          <p:cNvSpPr/>
          <p:nvPr/>
        </p:nvSpPr>
        <p:spPr>
          <a:xfrm>
            <a:off x="6172200" y="2743200"/>
            <a:ext cx="1097280" cy="548640"/>
          </a:xfrm>
          <a:prstGeom prst="chevron">
            <a:avLst/>
          </a:prstGeom>
          <a:solidFill>
            <a:srgbClr val="0033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Governance</a:t>
            </a:r>
          </a:p>
        </p:txBody>
      </p:sp>
      <p:sp>
        <p:nvSpPr>
          <p:cNvPr id="11" name="Chevron 10"/>
          <p:cNvSpPr/>
          <p:nvPr/>
        </p:nvSpPr>
        <p:spPr>
          <a:xfrm>
            <a:off x="7315200" y="2743200"/>
            <a:ext cx="1097280" cy="548640"/>
          </a:xfrm>
          <a:prstGeom prst="chevron">
            <a:avLst/>
          </a:prstGeom>
          <a:solidFill>
            <a:srgbClr val="0033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solidFill>
            <a:srgbClr val="F2F2F2"/>
          </a:solidFill>
        </p:spPr>
        <p:txBody>
          <a:bodyPr wrap="none">
            <a:spAutoFit/>
          </a:bodyPr>
          <a:lstStyle/>
          <a:p>
            <a:pPr algn="ctr">
              <a:defRPr i="1" sz="1100">
                <a:solidFill>
                  <a:srgbClr val="404040"/>
                </a:solidFill>
              </a:defRPr>
            </a:pPr>
            <a:r>
              <a:t>The integrated model creates a closed-loop system from forecasting to execution metrics.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3399"/>
                </a:solidFill>
              </a:defRPr>
            </a:pPr>
            <a:r>
              <a:t>Pillar 1: Demand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Early visibility prevents resource bottlenecks before they occur.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18288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003399"/>
                </a:solidFill>
              </a:defRPr>
            </a:pPr>
            <a:r>
              <a:t>OBJECTIVE</a:t>
            </a:r>
          </a:p>
          <a:p>
            <a:pPr>
              <a:spcAft>
                <a:spcPts val="2000"/>
              </a:spcAft>
              <a:defRPr sz="1200"/>
            </a:pPr>
            <a:r>
              <a:t>Predict resource requirements 3-6 months out based on pipeline probability.</a:t>
            </a:r>
          </a:p>
          <a:p>
            <a:pPr>
              <a:defRPr b="1" sz="1400">
                <a:solidFill>
                  <a:srgbClr val="003399"/>
                </a:solidFill>
              </a:defRPr>
            </a:pPr>
            <a:r>
              <a:t>PRIMARY METRIC (SLA)</a:t>
            </a:r>
          </a:p>
          <a:p>
            <a:pPr>
              <a:spcAft>
                <a:spcPts val="2000"/>
              </a:spcAft>
              <a:defRPr sz="1200"/>
            </a:pPr>
            <a:r>
              <a:t>Forecast Accuracy % (+/- 10%)</a:t>
            </a:r>
          </a:p>
          <a:p>
            <a:pPr>
              <a:defRPr b="1" sz="1400">
                <a:solidFill>
                  <a:srgbClr val="003399"/>
                </a:solidFill>
              </a:defRPr>
            </a:pPr>
            <a:r>
              <a:t>OWNER</a:t>
            </a:r>
          </a:p>
          <a:p>
            <a:pPr>
              <a:defRPr sz="1200"/>
            </a:pPr>
            <a:r>
              <a:t>Portfolio Lead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unnel 6"/>
          <p:cNvSpPr/>
          <p:nvPr/>
        </p:nvSpPr>
        <p:spPr>
          <a:xfrm>
            <a:off x="5943600" y="2286000"/>
            <a:ext cx="1828800" cy="1828800"/>
          </a:xfrm>
          <a:prstGeom prst="funnel">
            <a:avLst/>
          </a:prstGeom>
          <a:solidFill>
            <a:srgbClr val="00B0F0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solidFill>
            <a:srgbClr val="F2F2F2"/>
          </a:solidFill>
        </p:spPr>
        <p:txBody>
          <a:bodyPr wrap="none">
            <a:spAutoFit/>
          </a:bodyPr>
          <a:lstStyle/>
          <a:p>
            <a:pPr algn="ctr">
              <a:defRPr i="1" sz="1100">
                <a:solidFill>
                  <a:srgbClr val="404040"/>
                </a:solidFill>
              </a:defRPr>
            </a:pPr>
            <a:r>
              <a:t>This pillar directly impacts the 'Forecast Accuracy % (+/- 10%)' metric in the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3399"/>
                </a:solidFill>
              </a:defRPr>
            </a:pPr>
            <a:r>
              <a:t>Pillar 2: Work Intake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Standardized gatekeeping ensures only high-ROI work enters the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18288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003399"/>
                </a:solidFill>
              </a:defRPr>
            </a:pPr>
            <a:r>
              <a:t>OBJECTIVE</a:t>
            </a:r>
          </a:p>
          <a:p>
            <a:pPr>
              <a:spcAft>
                <a:spcPts val="2000"/>
              </a:spcAft>
              <a:defRPr sz="1200"/>
            </a:pPr>
            <a:r>
              <a:t>Filter requests based on strategic alignment and technical feasibility.</a:t>
            </a:r>
          </a:p>
          <a:p>
            <a:pPr>
              <a:defRPr b="1" sz="1400">
                <a:solidFill>
                  <a:srgbClr val="003399"/>
                </a:solidFill>
              </a:defRPr>
            </a:pPr>
            <a:r>
              <a:t>PRIMARY METRIC (SLA)</a:t>
            </a:r>
          </a:p>
          <a:p>
            <a:pPr>
              <a:spcAft>
                <a:spcPts val="2000"/>
              </a:spcAft>
              <a:defRPr sz="1200"/>
            </a:pPr>
            <a:r>
              <a:t>Intake-to-Approval Lead Time (48 hrs)</a:t>
            </a:r>
          </a:p>
          <a:p>
            <a:pPr>
              <a:defRPr b="1" sz="1400">
                <a:solidFill>
                  <a:srgbClr val="003399"/>
                </a:solidFill>
              </a:defRPr>
            </a:pPr>
            <a:r>
              <a:t>OWNER</a:t>
            </a:r>
          </a:p>
          <a:p>
            <a:pPr>
              <a:defRPr sz="1200"/>
            </a:pPr>
            <a:r>
              <a:t>Demand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cess 6"/>
          <p:cNvSpPr/>
          <p:nvPr/>
        </p:nvSpPr>
        <p:spPr>
          <a:xfrm>
            <a:off x="5943600" y="2286000"/>
            <a:ext cx="1828800" cy="1828800"/>
          </a:xfrm>
          <a:prstGeom prst="flowChartProcess">
            <a:avLst/>
          </a:prstGeom>
          <a:solidFill>
            <a:srgbClr val="00B0F0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solidFill>
            <a:srgbClr val="F2F2F2"/>
          </a:solidFill>
        </p:spPr>
        <p:txBody>
          <a:bodyPr wrap="none">
            <a:spAutoFit/>
          </a:bodyPr>
          <a:lstStyle/>
          <a:p>
            <a:pPr algn="ctr">
              <a:defRPr i="1" sz="1100">
                <a:solidFill>
                  <a:srgbClr val="404040"/>
                </a:solidFill>
              </a:defRPr>
            </a:pPr>
            <a:r>
              <a:t>This pillar directly impacts the 'Intake-to-Approval Lead Time (48 hrs)' metric in the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3399"/>
                </a:solidFill>
              </a:defRPr>
            </a:pPr>
            <a:r>
              <a:t>Pillar 3: Squad 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Dynamic assembly optimizes skill-to-task matching.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18288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003399"/>
                </a:solidFill>
              </a:defRPr>
            </a:pPr>
            <a:r>
              <a:t>OBJECTIVE</a:t>
            </a:r>
          </a:p>
          <a:p>
            <a:pPr>
              <a:spcAft>
                <a:spcPts val="2000"/>
              </a:spcAft>
              <a:defRPr sz="1200"/>
            </a:pPr>
            <a:r>
              <a:t>Create 'Right-Sized' teams with the correct mix of domain expertise.</a:t>
            </a:r>
          </a:p>
          <a:p>
            <a:pPr>
              <a:defRPr b="1" sz="1400">
                <a:solidFill>
                  <a:srgbClr val="003399"/>
                </a:solidFill>
              </a:defRPr>
            </a:pPr>
            <a:r>
              <a:t>PRIMARY METRIC (SLA)</a:t>
            </a:r>
          </a:p>
          <a:p>
            <a:pPr>
              <a:spcAft>
                <a:spcPts val="2000"/>
              </a:spcAft>
              <a:defRPr sz="1200"/>
            </a:pPr>
            <a:r>
              <a:t>Speed of Mobilization (&lt;5 Days)</a:t>
            </a:r>
          </a:p>
          <a:p>
            <a:pPr>
              <a:defRPr b="1" sz="1400">
                <a:solidFill>
                  <a:srgbClr val="003399"/>
                </a:solidFill>
              </a:defRPr>
            </a:pPr>
            <a:r>
              <a:t>OWNER</a:t>
            </a:r>
          </a:p>
          <a:p>
            <a:pPr>
              <a:defRPr sz="1200"/>
            </a:pPr>
            <a:r>
              <a:t>Squad Lead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0" y="2286000"/>
            <a:ext cx="1828800" cy="1828800"/>
          </a:xfrm>
          <a:prstGeom prst="roundRect">
            <a:avLst/>
          </a:prstGeom>
          <a:solidFill>
            <a:srgbClr val="00B0F0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solidFill>
            <a:srgbClr val="F2F2F2"/>
          </a:solidFill>
        </p:spPr>
        <p:txBody>
          <a:bodyPr wrap="none">
            <a:spAutoFit/>
          </a:bodyPr>
          <a:lstStyle/>
          <a:p>
            <a:pPr algn="ctr">
              <a:defRPr i="1" sz="1100">
                <a:solidFill>
                  <a:srgbClr val="404040"/>
                </a:solidFill>
              </a:defRPr>
            </a:pPr>
            <a:r>
              <a:t>This pillar directly impacts the 'Speed of Mobilization (&lt;5 Days)' metric in the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3399"/>
                </a:solidFill>
              </a:defRPr>
            </a:pPr>
            <a:r>
              <a:t>Pillar 4: Flex Hour Mgmt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Elastic scaling manages demand surges without fixed cost increases.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18288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003399"/>
                </a:solidFill>
              </a:defRPr>
            </a:pPr>
            <a:r>
              <a:t>OBJECTIVE</a:t>
            </a:r>
          </a:p>
          <a:p>
            <a:pPr>
              <a:spcAft>
                <a:spcPts val="2000"/>
              </a:spcAft>
              <a:defRPr sz="1200"/>
            </a:pPr>
            <a:r>
              <a:t>Activate buffer resources only when sprint velocity requires it.</a:t>
            </a:r>
          </a:p>
          <a:p>
            <a:pPr>
              <a:defRPr b="1" sz="1400">
                <a:solidFill>
                  <a:srgbClr val="003399"/>
                </a:solidFill>
              </a:defRPr>
            </a:pPr>
            <a:r>
              <a:t>PRIMARY METRIC (SLA)</a:t>
            </a:r>
          </a:p>
          <a:p>
            <a:pPr>
              <a:spcAft>
                <a:spcPts val="2000"/>
              </a:spcAft>
              <a:defRPr sz="1200"/>
            </a:pPr>
            <a:r>
              <a:t>Flex vs. Core Ratio</a:t>
            </a:r>
          </a:p>
          <a:p>
            <a:pPr>
              <a:defRPr b="1" sz="1400">
                <a:solidFill>
                  <a:srgbClr val="003399"/>
                </a:solidFill>
              </a:defRPr>
            </a:pPr>
            <a:r>
              <a:t>OWNER</a:t>
            </a:r>
          </a:p>
          <a:p>
            <a:pPr>
              <a:defRPr sz="1200"/>
            </a:pPr>
            <a:r>
              <a:t>Operations Lead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Up Arrow 6"/>
          <p:cNvSpPr/>
          <p:nvPr/>
        </p:nvSpPr>
        <p:spPr>
          <a:xfrm>
            <a:off x="5943600" y="2286000"/>
            <a:ext cx="1828800" cy="1828800"/>
          </a:xfrm>
          <a:prstGeom prst="upArrow">
            <a:avLst/>
          </a:prstGeom>
          <a:solidFill>
            <a:srgbClr val="00B0F0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solidFill>
            <a:srgbClr val="F2F2F2"/>
          </a:solidFill>
        </p:spPr>
        <p:txBody>
          <a:bodyPr wrap="none">
            <a:spAutoFit/>
          </a:bodyPr>
          <a:lstStyle/>
          <a:p>
            <a:pPr algn="ctr">
              <a:defRPr i="1" sz="1100">
                <a:solidFill>
                  <a:srgbClr val="404040"/>
                </a:solidFill>
              </a:defRPr>
            </a:pPr>
            <a:r>
              <a:t>This pillar directly impacts the 'Flex vs. Core Ratio' metric in the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3399"/>
                </a:solidFill>
              </a:defRPr>
            </a:pPr>
            <a:r>
              <a:t>Pillar 5: Capacity &amp; Utilization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Real-time utilization tracking identifies hidden efficiency gaps.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18288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003399"/>
                </a:solidFill>
              </a:defRPr>
            </a:pPr>
            <a:r>
              <a:t>OBJECTIVE</a:t>
            </a:r>
          </a:p>
          <a:p>
            <a:pPr>
              <a:spcAft>
                <a:spcPts val="2000"/>
              </a:spcAft>
              <a:defRPr sz="1200"/>
            </a:pPr>
            <a:r>
              <a:t>Monitor workforce 'pulse' to ensure 85% billable productivity.</a:t>
            </a:r>
          </a:p>
          <a:p>
            <a:pPr>
              <a:defRPr b="1" sz="1400">
                <a:solidFill>
                  <a:srgbClr val="003399"/>
                </a:solidFill>
              </a:defRPr>
            </a:pPr>
            <a:r>
              <a:t>PRIMARY METRIC (SLA)</a:t>
            </a:r>
          </a:p>
          <a:p>
            <a:pPr>
              <a:spcAft>
                <a:spcPts val="2000"/>
              </a:spcAft>
              <a:defRPr sz="1200"/>
            </a:pPr>
            <a:r>
              <a:t>Utilization % (Target: 85%)</a:t>
            </a:r>
          </a:p>
          <a:p>
            <a:pPr>
              <a:defRPr b="1" sz="1400">
                <a:solidFill>
                  <a:srgbClr val="003399"/>
                </a:solidFill>
              </a:defRPr>
            </a:pPr>
            <a:r>
              <a:t>OWNER</a:t>
            </a:r>
          </a:p>
          <a:p>
            <a:pPr>
              <a:defRPr sz="1200"/>
            </a:pPr>
            <a:r>
              <a:t>Resource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art X 6"/>
          <p:cNvSpPr/>
          <p:nvPr/>
        </p:nvSpPr>
        <p:spPr>
          <a:xfrm>
            <a:off x="5943600" y="2286000"/>
            <a:ext cx="1828800" cy="1828800"/>
          </a:xfrm>
          <a:prstGeom prst="chartX">
            <a:avLst/>
          </a:prstGeom>
          <a:solidFill>
            <a:srgbClr val="00B0F0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solidFill>
            <a:srgbClr val="F2F2F2"/>
          </a:solidFill>
        </p:spPr>
        <p:txBody>
          <a:bodyPr wrap="none">
            <a:spAutoFit/>
          </a:bodyPr>
          <a:lstStyle/>
          <a:p>
            <a:pPr algn="ctr">
              <a:defRPr i="1" sz="1100">
                <a:solidFill>
                  <a:srgbClr val="404040"/>
                </a:solidFill>
              </a:defRPr>
            </a:pPr>
            <a:r>
              <a:t>This pillar directly impacts the 'Utilization % (Target: 85%)' metric in the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3399"/>
                </a:solidFill>
              </a:defRPr>
            </a:pPr>
            <a:r>
              <a:t>Pillar 6: Project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Centralized standards minimize variance in delivery quality.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18288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003399"/>
                </a:solidFill>
              </a:defRPr>
            </a:pPr>
            <a:r>
              <a:t>OBJECTIVE</a:t>
            </a:r>
          </a:p>
          <a:p>
            <a:pPr>
              <a:spcAft>
                <a:spcPts val="2000"/>
              </a:spcAft>
              <a:defRPr sz="1200"/>
            </a:pPr>
            <a:r>
              <a:t>Maintain project health through rigorous scope and budget tracking.</a:t>
            </a:r>
          </a:p>
          <a:p>
            <a:pPr>
              <a:defRPr b="1" sz="1400">
                <a:solidFill>
                  <a:srgbClr val="003399"/>
                </a:solidFill>
              </a:defRPr>
            </a:pPr>
            <a:r>
              <a:t>PRIMARY METRIC (SLA)</a:t>
            </a:r>
          </a:p>
          <a:p>
            <a:pPr>
              <a:spcAft>
                <a:spcPts val="2000"/>
              </a:spcAft>
              <a:defRPr sz="1200"/>
            </a:pPr>
            <a:r>
              <a:t>Schedule Performance Index (SPI)</a:t>
            </a:r>
          </a:p>
          <a:p>
            <a:pPr>
              <a:defRPr b="1" sz="1400">
                <a:solidFill>
                  <a:srgbClr val="003399"/>
                </a:solidFill>
              </a:defRPr>
            </a:pPr>
            <a:r>
              <a:t>OWNER</a:t>
            </a:r>
          </a:p>
          <a:p>
            <a:pPr>
              <a:defRPr sz="1200"/>
            </a:pPr>
            <a:r>
              <a:t>PMO Lead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ision 6"/>
          <p:cNvSpPr/>
          <p:nvPr/>
        </p:nvSpPr>
        <p:spPr>
          <a:xfrm>
            <a:off x="5943600" y="2286000"/>
            <a:ext cx="1828800" cy="1828800"/>
          </a:xfrm>
          <a:prstGeom prst="flowChartDecision">
            <a:avLst/>
          </a:prstGeom>
          <a:solidFill>
            <a:srgbClr val="00B0F0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solidFill>
            <a:srgbClr val="F2F2F2"/>
          </a:solidFill>
        </p:spPr>
        <p:txBody>
          <a:bodyPr wrap="none">
            <a:spAutoFit/>
          </a:bodyPr>
          <a:lstStyle/>
          <a:p>
            <a:pPr algn="ctr">
              <a:defRPr i="1" sz="1100">
                <a:solidFill>
                  <a:srgbClr val="404040"/>
                </a:solidFill>
              </a:defRPr>
            </a:pPr>
            <a:r>
              <a:t>This pillar directly impacts the 'Schedule Performance Index (SPI)' metric in the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3399"/>
                </a:solidFill>
              </a:defRPr>
            </a:pPr>
            <a:r>
              <a:t>Pillar 7: Project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Execution excellence is driven by automated quality gates.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18288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003399"/>
                </a:solidFill>
              </a:defRPr>
            </a:pPr>
            <a:r>
              <a:t>OBJECTIVE</a:t>
            </a:r>
          </a:p>
          <a:p>
            <a:pPr>
              <a:spcAft>
                <a:spcPts val="2000"/>
              </a:spcAft>
              <a:defRPr sz="1200"/>
            </a:pPr>
            <a:r>
              <a:t>Deliver final product according to strict 'Definition of Done'.</a:t>
            </a:r>
          </a:p>
          <a:p>
            <a:pPr>
              <a:defRPr b="1" sz="1400">
                <a:solidFill>
                  <a:srgbClr val="003399"/>
                </a:solidFill>
              </a:defRPr>
            </a:pPr>
            <a:r>
              <a:t>PRIMARY METRIC (SLA)</a:t>
            </a:r>
          </a:p>
          <a:p>
            <a:pPr>
              <a:spcAft>
                <a:spcPts val="2000"/>
              </a:spcAft>
              <a:defRPr sz="1200"/>
            </a:pPr>
            <a:r>
              <a:t>Defect Density &amp; UAT Sign-off</a:t>
            </a:r>
          </a:p>
          <a:p>
            <a:pPr>
              <a:defRPr b="1" sz="1400">
                <a:solidFill>
                  <a:srgbClr val="003399"/>
                </a:solidFill>
              </a:defRPr>
            </a:pPr>
            <a:r>
              <a:t>OWNER</a:t>
            </a:r>
          </a:p>
          <a:p>
            <a:pPr>
              <a:defRPr sz="1200"/>
            </a:pPr>
            <a:r>
              <a:t>Technical Lead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ular Arrow 6"/>
          <p:cNvSpPr/>
          <p:nvPr/>
        </p:nvSpPr>
        <p:spPr>
          <a:xfrm>
            <a:off x="5943600" y="2286000"/>
            <a:ext cx="1828800" cy="1828800"/>
          </a:xfrm>
          <a:prstGeom prst="circularArrow">
            <a:avLst/>
          </a:prstGeom>
          <a:solidFill>
            <a:srgbClr val="00B0F0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solidFill>
            <a:srgbClr val="F2F2F2"/>
          </a:solidFill>
        </p:spPr>
        <p:txBody>
          <a:bodyPr wrap="none">
            <a:spAutoFit/>
          </a:bodyPr>
          <a:lstStyle/>
          <a:p>
            <a:pPr algn="ctr">
              <a:defRPr i="1" sz="1100">
                <a:solidFill>
                  <a:srgbClr val="404040"/>
                </a:solidFill>
              </a:defRPr>
            </a:pPr>
            <a:r>
              <a:t>This pillar directly impacts the 'Defect Density &amp; UAT Sign-off' metric in the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3399"/>
                </a:solidFill>
              </a:defRPr>
            </a:pPr>
            <a:r>
              <a:t>End-to-End SLA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Automated metric collection creates a closed-loop governance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18288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73152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Governance Phase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Metric / SLA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003399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Forecast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+/- 10%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Monthly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Time-to-Approve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&lt; 48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Daily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Squads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Time-to-Fill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&lt; 5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Weekly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Flex Activation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&lt; 72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On-Demand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Utilization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Weekly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SPI / CPI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0.9 - 1.1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Weekly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Defect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 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Per Sprint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