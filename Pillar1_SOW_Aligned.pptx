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375C"/>
                </a:solidFill>
                <a:latin typeface="Arial"/>
              </a:defRPr>
            </a:pPr>
            <a:r>
              <a:t>Pillar 1: Demand Forecasting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4552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375C"/>
                </a:solidFill>
                <a:latin typeface="Arial"/>
              </a:defRPr>
            </a:pPr>
            <a:r>
              <a:t>Predictive 30/60/90-day forecasts drive skill readiness vs. reactive hiring.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3200400" cy="54864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Focus Area / SOW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200400" cy="32004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/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KEY ACTIVITY: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Trend Analysis &amp; Roadmap Review</a:t>
            </a: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MEASURABLE METRICS:</a:t>
            </a:r>
          </a:p>
          <a:p>
            <a:pPr>
              <a:spcAft>
                <a:spcPts val="200"/>
              </a:spcAft>
              <a:defRPr sz="1200">
                <a:solidFill>
                  <a:srgbClr val="404040"/>
                </a:solidFill>
              </a:defRPr>
            </a:pPr>
            <a:r>
              <a:t>• 30/60/90/180 Day Rolling Forecast</a:t>
            </a:r>
          </a:p>
          <a:p>
            <a:pPr>
              <a:spcAft>
                <a:spcPts val="200"/>
              </a:spcAft>
              <a:defRPr sz="1200">
                <a:solidFill>
                  <a:srgbClr val="404040"/>
                </a:solidFill>
              </a:defRPr>
            </a:pPr>
            <a:r>
              <a:t>• Ticket Trend Volume (BAU)</a:t>
            </a:r>
          </a:p>
          <a:p>
            <a:pPr>
              <a:spcAft>
                <a:spcPts val="200"/>
              </a:spcAft>
              <a:defRPr sz="1200">
                <a:solidFill>
                  <a:srgbClr val="404040"/>
                </a:solidFill>
              </a:defRPr>
            </a:pPr>
            <a:r>
              <a:t>• Skill-wise Gap Analysis</a:t>
            </a:r>
          </a:p>
          <a:p>
            <a:pPr>
              <a:spcAft>
                <a:spcPts val="1000"/>
              </a:spcAft>
            </a:pPr>
          </a:p>
          <a:p>
            <a:pPr>
              <a:defRPr sz="1100" b="1">
                <a:solidFill>
                  <a:srgbClr val="10375C"/>
                </a:solidFill>
              </a:defRPr>
            </a:pPr>
            <a:r>
              <a:t>PRIMARY OWNER:</a:t>
            </a:r>
          </a:p>
          <a:p>
            <a:pPr>
              <a:spcAft>
                <a:spcPts val="1400"/>
              </a:spcAft>
              <a:defRPr sz="1200">
                <a:solidFill>
                  <a:srgbClr val="404040"/>
                </a:solidFill>
              </a:defRPr>
            </a:pPr>
            <a:r>
              <a:t>Supplier Portfolio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0375C"/>
                </a:solidFill>
              </a:defRPr>
            </a:pPr>
            <a:r>
              <a:t>Data Collection Phase Map (Aligned to SDLC)</a:t>
            </a:r>
          </a:p>
        </p:txBody>
      </p:sp>
      <p:sp>
        <p:nvSpPr>
          <p:cNvPr id="8" name="Chevron 7"/>
          <p:cNvSpPr/>
          <p:nvPr/>
        </p:nvSpPr>
        <p:spPr>
          <a:xfrm>
            <a:off x="4114800" y="2286000"/>
            <a:ext cx="2377440" cy="2743200"/>
          </a:xfrm>
          <a:prstGeom prst="chevron">
            <a:avLst/>
          </a:prstGeom>
          <a:solidFill>
            <a:srgbClr val="0070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/>
            </a:pPr>
            <a:r>
              <a:t>Continuous / BAU</a:t>
            </a:r>
          </a:p>
          <a:p/>
          <a:p/>
          <a:p>
            <a:r>
              <a:t>Historical Ticket Trends</a:t>
            </a:r>
          </a:p>
          <a:p>
            <a:r>
              <a:t>&amp; Workload Data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309360" y="3566160"/>
            <a:ext cx="457200" cy="182880"/>
          </a:xfrm>
          <a:prstGeom prst="rightArrow">
            <a:avLst/>
          </a:prstGeom>
          <a:solidFill>
            <a:srgbClr val="1037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6766560" y="2286000"/>
            <a:ext cx="2377440" cy="2743200"/>
          </a:xfrm>
          <a:prstGeom prst="chevron">
            <a:avLst/>
          </a:prstGeom>
          <a:solidFill>
            <a:srgbClr val="0070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/>
            </a:pPr>
            <a:r>
              <a:t>Strategic Planning</a:t>
            </a:r>
          </a:p>
          <a:p/>
          <a:p/>
          <a:p>
            <a:r>
              <a:t>Roadmap Review</a:t>
            </a:r>
          </a:p>
          <a:p>
            <a:r>
              <a:t>&amp; Project Pipeline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61120" y="3566160"/>
            <a:ext cx="457200" cy="182880"/>
          </a:xfrm>
          <a:prstGeom prst="rightArrow">
            <a:avLst/>
          </a:prstGeom>
          <a:solidFill>
            <a:srgbClr val="1037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9418320" y="2286000"/>
            <a:ext cx="2377440" cy="2743200"/>
          </a:xfrm>
          <a:prstGeom prst="chevron">
            <a:avLst/>
          </a:prstGeom>
          <a:solidFill>
            <a:srgbClr val="0070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/>
            </a:pPr>
            <a:r>
              <a:t>Project Initiation</a:t>
            </a:r>
          </a:p>
          <a:p/>
          <a:p/>
          <a:p>
            <a:r>
              <a:t>30/60/90 Day</a:t>
            </a:r>
          </a:p>
          <a:p>
            <a:r>
              <a:t>Rolling 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* Historical data establishes baseline; Roadmap review predicts peaks.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i="1">
                <a:solidFill>
                  <a:srgbClr val="10375C"/>
                </a:solidFill>
              </a:defRPr>
            </a:pPr>
            <a:r>
              <a:t>Data-driven forecasting ensures the right skills are available before the project kick-off.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